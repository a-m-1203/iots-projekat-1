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sr-Latn-R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D928-7863-8CF6-9882-58F09D2A84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A366EE-1C2B-AF8D-6558-19D369E3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45904D-9905-1D2D-606A-AC789FC0E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EE6D7D-E91F-A4C6-D0D1-7848F7FDC3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8415E-A3D7-EBEB-B4A0-5E7CAB835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52C10E-2E35-2E2F-0C0B-9859F04571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8D4027-429A-746A-0567-85D21F6CC0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7F3900-3FB5-30A9-1818-42B2D0A3DC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2813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74729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334873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74120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02067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583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04614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89857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343286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11993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71855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90703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8682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903647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7725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9626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6460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20178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1215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99198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29099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1744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67519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23766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36140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78186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2548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250561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11782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088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489164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34745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20026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8321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343755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33779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67046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25411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72018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0552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49767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1380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05160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599778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509879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6414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9527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98566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6834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02740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59213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062632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979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37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25773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72619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48633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36577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47381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02468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769839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777470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20485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65453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IoTS Projekat 1</a:t>
            </a:r>
            <a:endParaRPr/>
          </a:p>
        </p:txBody>
      </p:sp>
      <p:sp>
        <p:nvSpPr>
          <p:cNvPr id="183895529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371599" y="3886200"/>
            <a:ext cx="6400800" cy="1214283"/>
          </a:xfrm>
        </p:spPr>
        <p:txBody>
          <a:bodyPr/>
          <a:lstStyle/>
          <a:p>
            <a:pPr>
              <a:defRPr/>
            </a:pPr>
            <a:r>
              <a:rPr/>
              <a:t>REST, GraphQL i gRPC nad zajedničkom PostgreSQL bazom</a:t>
            </a:r>
            <a:endParaRPr/>
          </a:p>
        </p:txBody>
      </p:sp>
      <p:sp>
        <p:nvSpPr>
          <p:cNvPr id="98920327" name=""/>
          <p:cNvSpPr txBox="1"/>
          <p:nvPr/>
        </p:nvSpPr>
        <p:spPr bwMode="auto">
          <a:xfrm rot="0" flipH="0" flipV="0">
            <a:off x="3296518" y="5208023"/>
            <a:ext cx="255096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Aleksa Milo</a:t>
            </a:r>
            <a:r>
              <a:rPr lang="sr-Latn-RS"/>
              <a:t>šević 18764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666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Arhitektura sistema</a:t>
            </a:r>
            <a:endParaRPr/>
          </a:p>
        </p:txBody>
      </p:sp>
      <p:sp>
        <p:nvSpPr>
          <p:cNvPr id="1533925519" name="TextBox 3"/>
          <p:cNvSpPr txBox="1"/>
          <p:nvPr/>
        </p:nvSpPr>
        <p:spPr bwMode="auto">
          <a:xfrm>
            <a:off x="548640" y="1234440"/>
            <a:ext cx="8052479" cy="26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Docker Compose orkestriše 5 servisa (projekat: iots-projekat-1)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PostgreSQL 18 — centralna baza, tabela sensor_readings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data-generator (Python) — učitava CSV, briše stare redove, ubacuje 10 redova / 10 s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Tri nezavisna API sloja nad istom šemom: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  • REST — P</a:t>
            </a:r>
            <a:r>
              <a:rPr lang="en-US"/>
              <a:t>y</a:t>
            </a:r>
            <a:r>
              <a:rPr/>
              <a:t>thon FastAPI, port 8000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  • GraphQL —</a:t>
            </a:r>
            <a:r>
              <a:rPr lang="en-US"/>
              <a:t> </a:t>
            </a:r>
            <a:r>
              <a:rPr lang="en-US"/>
              <a:t>NodeJS</a:t>
            </a:r>
            <a:r>
              <a:rPr/>
              <a:t> Express + Apollo Server, port 4000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  • gRPC — ASP.NET Core 8, HTTP/2, port 8080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k6 load test (load_test.js) — paralelno meri performanse sva tri API-ja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4965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Kako projekat funkcioniše</a:t>
            </a:r>
            <a:endParaRPr/>
          </a:p>
        </p:txBody>
      </p:sp>
      <p:sp>
        <p:nvSpPr>
          <p:cNvPr id="235327029" name="TextBox 3"/>
          <p:cNvSpPr txBox="1"/>
          <p:nvPr/>
        </p:nvSpPr>
        <p:spPr bwMode="auto">
          <a:xfrm flipH="0" flipV="0">
            <a:off x="548639" y="1234440"/>
            <a:ext cx="8075159" cy="254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1. Postgres se podiže sa SQL šemom (iots-projekat-1.sql)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2. Generator se pokreće jednom</a:t>
            </a:r>
            <a:r>
              <a:rPr lang="en-US"/>
              <a:t> i upisuje podatke</a:t>
            </a:r>
            <a:r>
              <a:rPr/>
              <a:t> iz BIED Smart Agriculture Dataset</a:t>
            </a:r>
            <a:r>
              <a:rPr lang="en-US"/>
              <a:t> dok ih sve ne upi</a:t>
            </a:r>
            <a:r>
              <a:rPr lang="sr-Latn-RS"/>
              <a:t>še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3. REST, GraphQL i gRPC servisi startuju paralelno i čitaju/pišu u istu tabelu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4. Svi servisi implementiraju CRUD nad sensor_readings (get, create, update, delete)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5. Klijent bira protokol; poslovna logika i repozitorijum su prilagođeni paradigmi svakog API-ja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6. Load test simulira 10 VU (konfigurabilno), ramping 30s → 1m → cooldown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8902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REST API (FastAPI)</a:t>
            </a:r>
            <a:endParaRPr/>
          </a:p>
        </p:txBody>
      </p:sp>
      <p:sp>
        <p:nvSpPr>
          <p:cNvPr id="1100802307" name="TextBox 3"/>
          <p:cNvSpPr txBox="1"/>
          <p:nvPr/>
        </p:nvSpPr>
        <p:spPr bwMode="auto"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Prednosti</a:t>
            </a:r>
            <a:endParaRPr/>
          </a:p>
        </p:txBody>
      </p:sp>
      <p:sp>
        <p:nvSpPr>
          <p:cNvPr id="577583712" name="TextBox 4"/>
          <p:cNvSpPr txBox="1"/>
          <p:nvPr/>
        </p:nvSpPr>
        <p:spPr bwMode="auto">
          <a:xfrm>
            <a:off x="368595" y="1737360"/>
            <a:ext cx="3848400" cy="153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Jednostavan za razumevanje i testiranje (Swagger dokumentacija)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Široka podrška alata i HTTP keširanja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Dobro za javne integracije i mobilne klijente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Jasni status kodovi (200, 404, 422…)</a:t>
            </a:r>
            <a:endParaRPr/>
          </a:p>
        </p:txBody>
      </p:sp>
      <p:sp>
        <p:nvSpPr>
          <p:cNvPr id="1268355595" name="TextBox 5"/>
          <p:cNvSpPr txBox="1"/>
          <p:nvPr/>
        </p:nvSpPr>
        <p:spPr bwMode="auto"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Nedostaci</a:t>
            </a:r>
            <a:endParaRPr/>
          </a:p>
        </p:txBody>
      </p:sp>
      <p:sp>
        <p:nvSpPr>
          <p:cNvPr id="754192229" name="TextBox 6"/>
          <p:cNvSpPr txBox="1"/>
          <p:nvPr/>
        </p:nvSpPr>
        <p:spPr bwMode="auto">
          <a:xfrm>
            <a:off x="4572000" y="1691639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Over-fetching / under-fetching kod više resursa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Više round-trip-ova za složene upite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Verzionisanje URL-ova ili headera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Manje efikasan binarni transport od gRPC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915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GraphQL API (Apollo)</a:t>
            </a:r>
            <a:endParaRPr/>
          </a:p>
        </p:txBody>
      </p:sp>
      <p:sp>
        <p:nvSpPr>
          <p:cNvPr id="1160772589" name="TextBox 3"/>
          <p:cNvSpPr txBox="1"/>
          <p:nvPr/>
        </p:nvSpPr>
        <p:spPr bwMode="auto"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Prednosti</a:t>
            </a:r>
            <a:endParaRPr/>
          </a:p>
        </p:txBody>
      </p:sp>
      <p:sp>
        <p:nvSpPr>
          <p:cNvPr id="2053273720" name="TextBox 4"/>
          <p:cNvSpPr txBox="1"/>
          <p:nvPr/>
        </p:nvSpPr>
        <p:spPr bwMode="auto">
          <a:xfrm>
            <a:off x="512577" y="1691638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Klijent traži tačno polja koja mu trebaju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Jedan endpoint (/graphql) za sve operacije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Smanjen broj mrežnih poziva za agregirane prikaze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Jaka introspection šema za alate (Postman, IDE)</a:t>
            </a:r>
            <a:endParaRPr/>
          </a:p>
        </p:txBody>
      </p:sp>
      <p:sp>
        <p:nvSpPr>
          <p:cNvPr id="1033064298" name="TextBox 5"/>
          <p:cNvSpPr txBox="1"/>
          <p:nvPr/>
        </p:nvSpPr>
        <p:spPr bwMode="auto"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Nedostaci</a:t>
            </a:r>
            <a:endParaRPr/>
          </a:p>
        </p:txBody>
      </p:sp>
      <p:sp>
        <p:nvSpPr>
          <p:cNvPr id="1184375641" name="TextBox 6"/>
          <p:cNvSpPr txBox="1"/>
          <p:nvPr/>
        </p:nvSpPr>
        <p:spPr bwMode="auto">
          <a:xfrm>
            <a:off x="4572000" y="1691638"/>
            <a:ext cx="3845880" cy="153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Složeniji server (resolveri i šeme</a:t>
            </a:r>
            <a:r>
              <a:rPr lang="en-US"/>
              <a:t>)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Teže keširanje na HTTP nivou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Potrebno ograničavanje dubine/kompleksnosti upita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Manje standardizovan ekosistem od REST-a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422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gRPC API (.NET 8)</a:t>
            </a:r>
            <a:endParaRPr/>
          </a:p>
        </p:txBody>
      </p:sp>
      <p:sp>
        <p:nvSpPr>
          <p:cNvPr id="1781978105" name="TextBox 3"/>
          <p:cNvSpPr txBox="1"/>
          <p:nvPr/>
        </p:nvSpPr>
        <p:spPr bwMode="auto"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Prednosti</a:t>
            </a:r>
            <a:endParaRPr/>
          </a:p>
        </p:txBody>
      </p:sp>
      <p:sp>
        <p:nvSpPr>
          <p:cNvPr id="1301529424" name="TextBox 4"/>
          <p:cNvSpPr txBox="1"/>
          <p:nvPr/>
        </p:nvSpPr>
        <p:spPr bwMode="auto">
          <a:xfrm>
            <a:off x="590106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Protobuf — kompaktna serijalizacija, brži transfer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HTTP/2, multiplexing, pogodan za mikroservise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Strogo tipiziran contract (.proto fajl)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Najniža latencija u našem load testu</a:t>
            </a:r>
            <a:endParaRPr/>
          </a:p>
        </p:txBody>
      </p:sp>
      <p:sp>
        <p:nvSpPr>
          <p:cNvPr id="1028375665" name="TextBox 5"/>
          <p:cNvSpPr txBox="1"/>
          <p:nvPr/>
        </p:nvSpPr>
        <p:spPr bwMode="auto"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rPr/>
              <a:t>Nedostaci</a:t>
            </a:r>
            <a:endParaRPr/>
          </a:p>
        </p:txBody>
      </p:sp>
      <p:sp>
        <p:nvSpPr>
          <p:cNvPr id="1422486968" name="TextBox 6"/>
          <p:cNvSpPr txBox="1"/>
          <p:nvPr/>
        </p:nvSpPr>
        <p:spPr bwMode="auto">
          <a:xfrm>
            <a:off x="4572000" y="1691639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Browser podrška ograničena (potreban grpc-web proxy)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Teže ručno testiranje bez specijalizovanih alata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Manje pogodan za javne REST integracije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rPr/>
              <a:t>k6 nema sve ugrađene gRPC metrike kao za HTTP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6985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Rezultati load testa (k6, VUS = 10)</a:t>
            </a:r>
            <a:endParaRPr/>
          </a:p>
        </p:txBody>
      </p:sp>
      <p:graphicFrame>
        <p:nvGraphicFramePr>
          <p:cNvPr id="1404028801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8229600" cy="20116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2336"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API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Prosečna latencija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p95 latencija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Success RPS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 b="1"/>
                      </a:pPr>
                      <a:r>
                        <a:rPr/>
                        <a:t>Stopa grešaka</a:t>
                      </a:r>
                      <a:endParaRPr/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REST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7.79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15.94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15.29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0.00%</a:t>
                      </a:r>
                      <a:endParaRPr/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GraphQL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4.01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8.09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7.65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0.00%</a:t>
                      </a:r>
                      <a:endParaRPr/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gRPC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2.39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5.40 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15.29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00"/>
                      </a:pPr>
                      <a:r>
                        <a:rPr/>
                        <a:t>0.00%</a:t>
                      </a:r>
                      <a:endParaRPr/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87510040" name="TextBox 4"/>
          <p:cNvSpPr txBox="1"/>
          <p:nvPr/>
        </p:nvSpPr>
        <p:spPr bwMode="auto">
          <a:xfrm>
            <a:off x="457200" y="3596148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</a:defRPr>
            </a:pPr>
            <a:r>
              <a:rPr/>
              <a:t>Izvor: load_test_summary.json (test: list + get po iteraciji)</a:t>
            </a:r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rPr/>
              <a:t>Napomena: GraphQL šalje 1 HTTP zahtev po iteraciji, REST i gRPC po 2 — zato je GraphQL RPS ~2× manji.</a:t>
            </a:r>
            <a:endParaRPr/>
          </a:p>
          <a:p>
            <a:pPr>
              <a:defRPr sz="1400">
                <a:solidFill>
                  <a:srgbClr val="444444"/>
                </a:solidFill>
              </a:defRPr>
            </a:pPr>
            <a:r>
              <a:rPr/>
              <a:t>Svi API-ji: 0% grešaka u merenju; podaci iz iste PostgreSQL baze.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103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Zaključ</a:t>
            </a:r>
            <a:r>
              <a:rPr lang="sr-Latn-RS"/>
              <a:t>ak</a:t>
            </a:r>
            <a:endParaRPr/>
          </a:p>
        </p:txBody>
      </p:sp>
      <p:sp>
        <p:nvSpPr>
          <p:cNvPr id="1431029062" name="TextBox 3"/>
          <p:cNvSpPr txBox="1"/>
          <p:nvPr/>
        </p:nvSpPr>
        <p:spPr bwMode="auto">
          <a:xfrm>
            <a:off x="548640" y="1234440"/>
            <a:ext cx="8047080" cy="24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gRPC je najbrži: prosečno 2.4 ms, p95 5.4 ms — pogodan za servis-servis komunikaciju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GraphQL ima nisku latenciju po zahtevu (4.0 ms avg), ali manji ukupan throughput u ovom scenariju (1 poziv/iteracija)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REST je balans između jednostavnosti i performansi (7.8 ms avg, 15.3 RPS)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Za fleksibilne upite — GraphQL; za eksterne integracije i dokumentaciju — REST; za interne mikroservise — gRPC</a:t>
            </a:r>
            <a:endParaRPr/>
          </a:p>
          <a:p>
            <a:pPr>
              <a:spcAft>
                <a:spcPts val="600"/>
              </a:spcAft>
              <a:defRPr sz="1700">
                <a:solidFill>
                  <a:srgbClr val="444444"/>
                </a:solidFill>
              </a:defRPr>
            </a:pPr>
            <a:r>
              <a:rPr/>
              <a:t>Zajednička PostgreSQL arhitektura omogućava fer poređenje — razlika je u protokolu, ne u podacima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2026-05-17T21:00:09Z</dcterms:modified>
  <cp:category/>
</cp:coreProperties>
</file>